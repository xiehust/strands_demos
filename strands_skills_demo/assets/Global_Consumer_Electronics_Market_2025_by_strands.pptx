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Market Size by Segment (Billions USD)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Segments 2025</c:v>
                </c:pt>
              </c:strCache>
            </c:strRef>
          </c:tx>
          <c:spPr>
            <a:solidFill>
              <a:srgbClr val="3498D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Smartphones</c:v>
                  </c:pt>
                  <c:pt idx="1">
                    <c:v>Wearables</c:v>
                  </c:pt>
                  <c:pt idx="2">
                    <c:v>Consumer IoT</c:v>
                  </c:pt>
                  <c:pt idx="3">
                    <c:v>Home Appliances</c:v>
                  </c:pt>
                  <c:pt idx="4">
                    <c:v>Audio/Video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485</c:v>
                </c:pt>
                <c:pt idx="1">
                  <c:v>125</c:v>
                </c:pt>
                <c:pt idx="2">
                  <c:v>125</c:v>
                </c:pt>
                <c:pt idx="3">
                  <c:v>280</c:v>
                </c:pt>
                <c:pt idx="4">
                  <c:v>235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Product Category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Market Size ($B)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Market Share by Region (%)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Regional 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</c:dPt>
          <c:dPt>
            <c:idx val="4"/>
            <c:bubble3D val="0"/>
            <c:spPr>
              <a:solidFill>
                <a:srgbClr val="9B59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Asia Pacific</c:v>
                </c:pt>
                <c:pt idx="1">
                  <c:v>North America</c:v>
                </c:pt>
                <c:pt idx="2">
                  <c:v>Europe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42</c:v>
                </c:pt>
                <c:pt idx="1">
                  <c:v>28</c:v>
                </c:pt>
                <c:pt idx="2">
                  <c:v>18</c:v>
                </c:pt>
                <c:pt idx="3">
                  <c:v>7</c:v>
                </c:pt>
                <c:pt idx="4">
                  <c:v>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Global Market Growth Projection (Billions USD)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</c:v>
                </c:pt>
              </c:strCache>
            </c:strRef>
          </c:tx>
          <c:spPr>
            <a:solidFill>
              <a:srgbClr val="3498DB"/>
            </a:solidFill>
            <a:ln w="50800" cap="flat">
              <a:solidFill>
                <a:srgbClr val="3498D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98DB"/>
              </a:solidFill>
              <a:ln w="9525" cap="flat">
                <a:solidFill>
                  <a:srgbClr val="3498D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  <c:pt idx="7">
                    <c:v>2031</c:v>
                  </c:pt>
                  <c:pt idx="8">
                    <c:v>2032</c:v>
                  </c:pt>
                  <c:pt idx="9">
                    <c:v>2033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1396</c:v>
                </c:pt>
                <c:pt idx="1">
                  <c:v>1465</c:v>
                </c:pt>
                <c:pt idx="2">
                  <c:v>1537</c:v>
                </c:pt>
                <c:pt idx="3">
                  <c:v>1612</c:v>
                </c:pt>
                <c:pt idx="4">
                  <c:v>1691</c:v>
                </c:pt>
                <c:pt idx="5">
                  <c:v>1773</c:v>
                </c:pt>
                <c:pt idx="6">
                  <c:v>1859</c:v>
                </c:pt>
                <c:pt idx="7">
                  <c:v>1949</c:v>
                </c:pt>
                <c:pt idx="8">
                  <c:v>2043</c:v>
                </c:pt>
                <c:pt idx="9">
                  <c:v>2148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Year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00"/>
          <c:min val="1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Market Size ($B)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694283"/>
            <a:ext cx="7772400" cy="2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240"/>
              </a:lnSpc>
              <a:spcAft>
                <a:spcPts val="2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Consumer Electronic Devices Market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685800" y="3325267"/>
            <a:ext cx="77724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5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Market Analysis &amp; Forecast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85800" y="3925342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Overview 2025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91977"/>
            <a:ext cx="3810149" cy="955477"/>
          </a:xfrm>
          <a:prstGeom prst="roundRect">
            <a:avLst>
              <a:gd name="adj" fmla="val 53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6525" y="1291977"/>
            <a:ext cx="0" cy="955477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2801" y="1469678"/>
            <a:ext cx="3465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Market Size 2025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2801" y="1698278"/>
            <a:ext cx="34655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$1.29</a:t>
            </a:r>
            <a:pPr algn="l" indent="0" marL="0"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Trillion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07950" y="2425154"/>
            <a:ext cx="3810149" cy="955477"/>
          </a:xfrm>
          <a:prstGeom prst="roundRect">
            <a:avLst>
              <a:gd name="adj" fmla="val 53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6525" y="2425154"/>
            <a:ext cx="0" cy="955477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2801" y="2602855"/>
            <a:ext cx="3465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Rate (CAGR)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2801" y="2831455"/>
            <a:ext cx="34655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07950" y="3558332"/>
            <a:ext cx="3810149" cy="955477"/>
          </a:xfrm>
          <a:prstGeom prst="roundRect">
            <a:avLst>
              <a:gd name="adj" fmla="val 531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36525" y="3558332"/>
            <a:ext cx="0" cy="955477"/>
          </a:xfrm>
          <a:prstGeom prst="line">
            <a:avLst/>
          </a:prstGeom>
          <a:noFill/>
          <a:ln w="57150">
            <a:solidFill>
              <a:srgbClr val="3498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801" y="3736032"/>
            <a:ext cx="3465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A6C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2033 Projection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2801" y="3964632"/>
            <a:ext cx="346554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$2.15</a:t>
            </a:r>
            <a:pPr algn="l" indent="0" marL="0"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825901" y="1291977"/>
            <a:ext cx="388635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20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Growth Drivers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25901" y="1739652"/>
            <a:ext cx="3810149" cy="2331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Technology: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Accelerating demand for compatible devices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Smart devices with enhanced capabilities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Expansion: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21.1B connected devices globally, 14% growth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Home: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Consumer IoT market reaching $125B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136.5M units shipped, up 9.6% YoY</a:t>
            </a:r>
            <a:endParaRPr lang="en-US" sz="1100" dirty="0"/>
          </a:p>
          <a:p>
            <a:pPr algn="l" marL="342900" indent="-342900">
              <a:lnSpc>
                <a:spcPts val="1540"/>
              </a:lnSpc>
              <a:spcAft>
                <a:spcPts val="900"/>
              </a:spcAft>
              <a:buSzPct val="100000"/>
              <a:buChar char="•"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Push:</a:t>
            </a:r>
            <a:pPr algn="l" indent="0" marL="0">
              <a:lnSpc>
                <a:spcPts val="1540"/>
              </a:lnSpc>
              <a:spcAft>
                <a:spcPts val="900"/>
              </a:spcAft>
              <a:buNone/>
            </a:pPr>
            <a:r>
              <a:rPr lang="en-US" sz="11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Higher price points with advanced features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74527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53901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Market Segments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253877"/>
            <a:ext cx="39510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Categories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698278"/>
            <a:ext cx="3873550" cy="755452"/>
          </a:xfrm>
          <a:prstGeom prst="roundRect">
            <a:avLst>
              <a:gd name="adj" fmla="val 100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698278"/>
            <a:ext cx="0" cy="7554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7975" y="1850678"/>
            <a:ext cx="3591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7975" y="2136428"/>
            <a:ext cx="359154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$485B revenue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295.2M units Q2 2025 • 1.0% YoY growth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7950" y="2580680"/>
            <a:ext cx="3873550" cy="920353"/>
          </a:xfrm>
          <a:prstGeom prst="roundRect">
            <a:avLst>
              <a:gd name="adj" fmla="val 827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580680"/>
            <a:ext cx="0" cy="920353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7975" y="2733080"/>
            <a:ext cx="3591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Devices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7975" y="3018830"/>
            <a:ext cx="3591547" cy="329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136.5M units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Q2 2025 • 9.6% YoY growth • Smartwatches 38.3M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7950" y="3627983"/>
            <a:ext cx="3873550" cy="755452"/>
          </a:xfrm>
          <a:prstGeom prst="roundRect">
            <a:avLst>
              <a:gd name="adj" fmla="val 1008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627983"/>
            <a:ext cx="0" cy="755452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7975" y="3780383"/>
            <a:ext cx="359154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IoT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07975" y="4066133"/>
            <a:ext cx="3591547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$125B+ market</a:t>
            </a:r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8.8% YoY growth • 21.1B connected devices</a:t>
            </a:r>
            <a:endParaRPr lang="en-US" sz="10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762500" y="1253877"/>
          <a:ext cx="387355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9226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12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Market Trends 2025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77826"/>
            <a:ext cx="3905399" cy="1009352"/>
          </a:xfrm>
          <a:prstGeom prst="roundRect">
            <a:avLst>
              <a:gd name="adj" fmla="val 75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196876"/>
            <a:ext cx="3905399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3001" y="1380976"/>
            <a:ext cx="3646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AI Integration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73001" y="1666726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AI standard across products. Vendors offering AI in affordable devices to drive adoption.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7950" y="2288679"/>
            <a:ext cx="3905399" cy="1009352"/>
          </a:xfrm>
          <a:prstGeom prst="roundRect">
            <a:avLst>
              <a:gd name="adj" fmla="val 75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2307729"/>
            <a:ext cx="3905399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3001" y="2491829"/>
            <a:ext cx="3646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5G Expansion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3001" y="2777579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Accelerating demand for 5G-compatible devices with faster speeds and connectivity.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950" y="3399532"/>
            <a:ext cx="3905399" cy="1104602"/>
          </a:xfrm>
          <a:prstGeom prst="roundRect">
            <a:avLst>
              <a:gd name="adj" fmla="val 68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507950" y="3418582"/>
            <a:ext cx="3905399" cy="0"/>
          </a:xfrm>
          <a:prstGeom prst="line">
            <a:avLst/>
          </a:prstGeom>
          <a:noFill/>
          <a:ln w="38100">
            <a:solidFill>
              <a:srgbClr val="9B59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3001" y="3602682"/>
            <a:ext cx="36468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Smart Home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3001" y="3983682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Matter standard improving interoperability. Energy management driving adoption.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30800" y="1177826"/>
            <a:ext cx="3905399" cy="1104602"/>
          </a:xfrm>
          <a:prstGeom prst="roundRect">
            <a:avLst>
              <a:gd name="adj" fmla="val 68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30800" y="1196876"/>
            <a:ext cx="3905399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5850" y="1380976"/>
            <a:ext cx="36468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Premium Push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5850" y="1761976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offsetting slowdown with higher price points and premium AI features.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30800" y="2383929"/>
            <a:ext cx="3905399" cy="1104602"/>
          </a:xfrm>
          <a:prstGeom prst="roundRect">
            <a:avLst>
              <a:gd name="adj" fmla="val 689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30800" y="2402979"/>
            <a:ext cx="3905399" cy="0"/>
          </a:xfrm>
          <a:prstGeom prst="line">
            <a:avLst/>
          </a:prstGeom>
          <a:noFill/>
          <a:ln w="381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5850" y="2587079"/>
            <a:ext cx="36468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❤️ Health Monitoring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5850" y="2968079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 focused on health tracking. Biometric and motion sensors driving growth.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0800" y="3590032"/>
            <a:ext cx="3905399" cy="1009352"/>
          </a:xfrm>
          <a:prstGeom prst="roundRect">
            <a:avLst>
              <a:gd name="adj" fmla="val 7549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730800" y="3609082"/>
            <a:ext cx="3905399" cy="0"/>
          </a:xfrm>
          <a:prstGeom prst="line">
            <a:avLst/>
          </a:prstGeom>
          <a:noFill/>
          <a:ln w="38100">
            <a:solidFill>
              <a:srgbClr val="F39C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5850" y="3793182"/>
            <a:ext cx="364680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 Energy Efficiency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5850" y="4078932"/>
            <a:ext cx="3646804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demand for energy management. Advanced sensors enabling smarter operation.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9226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12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Market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77826"/>
            <a:ext cx="398350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Regional Markets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571476"/>
            <a:ext cx="3905399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571476"/>
            <a:ext cx="0" cy="674191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2526" y="1698427"/>
            <a:ext cx="36759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🇨🇳 Asia Pacific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2526" y="1961852"/>
            <a:ext cx="367595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leads $111.9B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Xiaomi wearables • IoT adoption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2321868"/>
            <a:ext cx="3905399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31763" y="2321868"/>
            <a:ext cx="0" cy="674191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2526" y="2448818"/>
            <a:ext cx="36759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🇺🇸 North America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2526" y="2712244"/>
            <a:ext cx="367595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adoption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AI devices • Healthcare wearables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950" y="3072259"/>
            <a:ext cx="3905399" cy="674191"/>
          </a:xfrm>
          <a:prstGeom prst="roundRect">
            <a:avLst>
              <a:gd name="adj" fmla="val 113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531763" y="3072259"/>
            <a:ext cx="0" cy="674191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526" y="3199209"/>
            <a:ext cx="367595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🇪🇺 Europe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2526" y="3462635"/>
            <a:ext cx="367595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priorities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Regulatory standards • Sustainability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07950" y="3822650"/>
            <a:ext cx="3905399" cy="759916"/>
          </a:xfrm>
          <a:prstGeom prst="roundRect">
            <a:avLst>
              <a:gd name="adj" fmla="val 10027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1763" y="3822650"/>
            <a:ext cx="0" cy="759916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526" y="3949601"/>
            <a:ext cx="367595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Emerging Markets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2526" y="4298752"/>
            <a:ext cx="3675951" cy="1568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 growth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Affordable devices • Mobile-first</a:t>
            </a:r>
            <a:endParaRPr lang="en-US" sz="9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4730800" y="1177826"/>
          <a:ext cx="3905399" cy="2920901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9226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12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101626"/>
            <a:ext cx="3821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 Players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7950" y="1495276"/>
            <a:ext cx="3746599" cy="1006078"/>
          </a:xfrm>
          <a:prstGeom prst="roundRect">
            <a:avLst>
              <a:gd name="adj" fmla="val 757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451" y="1850678"/>
            <a:ext cx="3886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17402" y="1736675"/>
            <a:ext cx="3096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17402" y="1946225"/>
            <a:ext cx="3096360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smartphones • </a:t>
            </a:r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Wearables leader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Advanced smartwatches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07950" y="2564755"/>
            <a:ext cx="3746599" cy="1006078"/>
          </a:xfrm>
          <a:prstGeom prst="roundRect">
            <a:avLst>
              <a:gd name="adj" fmla="val 757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9451" y="2920157"/>
            <a:ext cx="3886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17402" y="2806154"/>
            <a:ext cx="3096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Samsung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17402" y="3015704"/>
            <a:ext cx="3096360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portfolio • </a:t>
            </a:r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TV &amp; smartphone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leader • Strong global presence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7950" y="3634234"/>
            <a:ext cx="3746599" cy="1006078"/>
          </a:xfrm>
          <a:prstGeom prst="roundRect">
            <a:avLst>
              <a:gd name="adj" fmla="val 7574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9451" y="3989636"/>
            <a:ext cx="38862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2000" b="1" dirty="0">
                <a:solidFill>
                  <a:srgbClr val="3498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7402" y="3875633"/>
            <a:ext cx="309636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Xiaomi, Sony, LG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17402" y="4085183"/>
            <a:ext cx="3096360" cy="313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Rising wearables</a:t>
            </a:r>
            <a:pPr algn="l" indent="0" marL="0">
              <a:lnSpc>
                <a:spcPts val="1235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Premium audio/visual • Home appliances • IoT ecosystem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89450" y="1101626"/>
            <a:ext cx="38215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Dynamics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89450" y="1495276"/>
            <a:ext cx="3746599" cy="1305520"/>
          </a:xfrm>
          <a:prstGeom prst="roundRect">
            <a:avLst>
              <a:gd name="adj" fmla="val 3891"/>
            </a:avLst>
          </a:prstGeom>
          <a:solidFill>
            <a:srgbClr val="E8F4F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908500" y="1495276"/>
            <a:ext cx="0" cy="130552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9950" y="1647676"/>
            <a:ext cx="3471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Strategies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79950" y="1949202"/>
            <a:ext cx="3403699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AI features for higher prices</a:t>
            </a:r>
            <a:endParaRPr lang="en-US" sz="950" dirty="0"/>
          </a:p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Ecosystem lock-in devices</a:t>
            </a:r>
            <a:endParaRPr lang="en-US" sz="950" dirty="0"/>
          </a:p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across all categories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89450" y="2927747"/>
            <a:ext cx="3746599" cy="1305520"/>
          </a:xfrm>
          <a:prstGeom prst="roundRect">
            <a:avLst>
              <a:gd name="adj" fmla="val 3891"/>
            </a:avLst>
          </a:prstGeom>
          <a:solidFill>
            <a:srgbClr val="FFF5E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908500" y="2927747"/>
            <a:ext cx="0" cy="130552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9950" y="3080147"/>
            <a:ext cx="34717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Challenges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9950" y="3381673"/>
            <a:ext cx="3403699" cy="622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Tariff and supply chain uncertainty</a:t>
            </a:r>
            <a:endParaRPr lang="en-US" sz="950" dirty="0"/>
          </a:p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China demand impact</a:t>
            </a:r>
            <a:endParaRPr lang="en-US" sz="950" dirty="0"/>
          </a:p>
          <a:p>
            <a:pPr algn="l" marL="342900" indent="-342900">
              <a:lnSpc>
                <a:spcPts val="1235"/>
              </a:lnSpc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competition mid-range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9226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12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Growth Forecast (2024-2033)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3235226"/>
            <a:ext cx="2557016" cy="1440954"/>
          </a:xfrm>
          <a:prstGeom prst="roundRect">
            <a:avLst>
              <a:gd name="adj" fmla="val 52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3254276"/>
            <a:ext cx="2557016" cy="0"/>
          </a:xfrm>
          <a:prstGeom prst="line">
            <a:avLst/>
          </a:prstGeom>
          <a:noFill/>
          <a:ln w="38100">
            <a:solidFill>
              <a:srgbClr val="3498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0350" y="3425726"/>
            <a:ext cx="2297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Steady Growth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0350" y="3812977"/>
            <a:ext cx="229726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projected to grow from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$1.40T (2024)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</a:t>
            </a:r>
            <a:pPr algn="l" indent="0" marL="0">
              <a:lnSpc>
                <a:spcPts val="1400"/>
              </a:lnSpc>
              <a:buNone/>
            </a:pPr>
            <a:r>
              <a:rPr lang="en-US" sz="10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$2.15T (2033)</a:t>
            </a:r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4.9% CAGR, driven by innovation.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3566" y="3235226"/>
            <a:ext cx="2557016" cy="1440954"/>
          </a:xfrm>
          <a:prstGeom prst="roundRect">
            <a:avLst>
              <a:gd name="adj" fmla="val 52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3566" y="3254276"/>
            <a:ext cx="2557016" cy="0"/>
          </a:xfrm>
          <a:prstGeom prst="line">
            <a:avLst/>
          </a:prstGeom>
          <a:noFill/>
          <a:ln w="381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5966" y="3425726"/>
            <a:ext cx="229726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Key Accelerators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45966" y="3727252"/>
            <a:ext cx="2297260" cy="533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integration, 5G expansion, and IoT connectivity driving growth. Smart home and wearables strongest momentum.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079182" y="3235226"/>
            <a:ext cx="2557016" cy="1440954"/>
          </a:xfrm>
          <a:prstGeom prst="roundRect">
            <a:avLst>
              <a:gd name="adj" fmla="val 5288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079182" y="3254276"/>
            <a:ext cx="2557016" cy="0"/>
          </a:xfrm>
          <a:prstGeom prst="line">
            <a:avLst/>
          </a:prstGeom>
          <a:noFill/>
          <a:ln w="381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1582" y="3425726"/>
            <a:ext cx="2297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Market Evolution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31582" y="3812977"/>
            <a:ext cx="2297260" cy="710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 toward premium products, ecosystem integration, and health devices reshaping landscape through 2033.</a:t>
            </a:r>
            <a:endParaRPr lang="en-US" sz="10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07950" y="1139726"/>
          <a:ext cx="8128099" cy="1905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49226"/>
          </a:xfrm>
          <a:prstGeom prst="rect">
            <a:avLst/>
          </a:prstGeom>
          <a:solidFill>
            <a:srgbClr val="1C3A5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07950" y="241250"/>
            <a:ext cx="8290661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Recommendations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50" y="1076176"/>
            <a:ext cx="82906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22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Insights for 2025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7950" y="1514326"/>
            <a:ext cx="4019550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31763" y="1514326"/>
            <a:ext cx="0" cy="1002357"/>
          </a:xfrm>
          <a:prstGeom prst="line">
            <a:avLst/>
          </a:prstGeom>
          <a:noFill/>
          <a:ln w="47625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9875" y="1628626"/>
            <a:ext cx="381819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69875" y="1797546"/>
            <a:ext cx="3818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 &amp; Growth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9875" y="2060972"/>
            <a:ext cx="381819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at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$1.29T (2025)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projected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$2.15T by 2033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with 4.9% CAGR driven by innovation.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16351" y="1514326"/>
            <a:ext cx="4019699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40163" y="1514326"/>
            <a:ext cx="0" cy="1002357"/>
          </a:xfrm>
          <a:prstGeom prst="line">
            <a:avLst/>
          </a:prstGeom>
          <a:noFill/>
          <a:ln w="47625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78276" y="1628626"/>
            <a:ext cx="381834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78276" y="1797546"/>
            <a:ext cx="3818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as Differentiator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78276" y="2060972"/>
            <a:ext cx="381834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integration standard across devices. Must invest in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features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remain competitive.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7950" y="2605534"/>
            <a:ext cx="4019550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531763" y="2605534"/>
            <a:ext cx="0" cy="1002357"/>
          </a:xfrm>
          <a:prstGeom prst="line">
            <a:avLst/>
          </a:prstGeom>
          <a:noFill/>
          <a:ln w="47625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9875" y="2719834"/>
            <a:ext cx="381819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69875" y="2888754"/>
            <a:ext cx="3818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&amp; Connectivity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9875" y="3152180"/>
            <a:ext cx="381819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21.1B IoT devices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globally with 14% growth. Smart home and wearables leading momentum.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616351" y="2605534"/>
            <a:ext cx="4019699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40163" y="2605534"/>
            <a:ext cx="0" cy="1002357"/>
          </a:xfrm>
          <a:prstGeom prst="line">
            <a:avLst/>
          </a:prstGeom>
          <a:noFill/>
          <a:ln w="47625">
            <a:solidFill>
              <a:srgbClr val="9B59B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8276" y="2719834"/>
            <a:ext cx="381834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78276" y="2888754"/>
            <a:ext cx="3818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Opportunities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778276" y="3152180"/>
            <a:ext cx="381834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leads with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$111.9B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Emerging markets offer growth with rising device penetration.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7950" y="3696742"/>
            <a:ext cx="4019550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31763" y="3696742"/>
            <a:ext cx="0" cy="1002357"/>
          </a:xfrm>
          <a:prstGeom prst="line">
            <a:avLst/>
          </a:prstGeom>
          <a:noFill/>
          <a:ln w="47625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9875" y="3811042"/>
            <a:ext cx="3818192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69875" y="3979962"/>
            <a:ext cx="38181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Strategy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9875" y="4243388"/>
            <a:ext cx="3818192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Vendors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pushing higher prices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through advanced features. Focus premium to offset volume challenges.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616351" y="3696742"/>
            <a:ext cx="4019699" cy="1002357"/>
          </a:xfrm>
          <a:prstGeom prst="roundRect">
            <a:avLst>
              <a:gd name="adj" fmla="val 7602"/>
            </a:avLst>
          </a:prstGeom>
          <a:solidFill>
            <a:srgbClr val="F8F9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640163" y="3696742"/>
            <a:ext cx="0" cy="1002357"/>
          </a:xfrm>
          <a:prstGeom prst="line">
            <a:avLst/>
          </a:prstGeom>
          <a:noFill/>
          <a:ln w="47625">
            <a:solidFill>
              <a:srgbClr val="F39C1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78276" y="3811042"/>
            <a:ext cx="3818343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778276" y="3979962"/>
            <a:ext cx="381834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C3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&amp; Sustainability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78276" y="4243388"/>
            <a:ext cx="3818343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for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monitoring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wearables and </a:t>
            </a:r>
            <a:pPr algn="l" indent="0" marL="0">
              <a:lnSpc>
                <a:spcPts val="1330"/>
              </a:lnSpc>
              <a:buNone/>
            </a:pPr>
            <a:r>
              <a:rPr lang="en-US" sz="95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energy-efficient</a:t>
            </a:r>
            <a:pPr algn="l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products growing.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76972" y="1212949"/>
            <a:ext cx="5590056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5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1776972" y="2235250"/>
            <a:ext cx="5590056" cy="837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00"/>
              </a:lnSpc>
              <a:spcAft>
                <a:spcPts val="3000"/>
              </a:spcAft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Consumer Electronic Devices Market
</a:t>
            </a:r>
            <a:pPr algn="ctr" indent="0" marL="0">
              <a:lnSpc>
                <a:spcPts val="3300"/>
              </a:lnSpc>
              <a:spcAft>
                <a:spcPts val="3000"/>
              </a:spcAft>
              <a:buNone/>
            </a:pPr>
            <a:r>
              <a:rPr lang="en-US" sz="22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Analysis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76972" y="3454152"/>
            <a:ext cx="559005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data compiled from leading industry research firms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Market Intelligence Report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Consumer Electronic Devices Market 2025</dc:title>
  <dc:subject>PptxGenJS Presentation</dc:subject>
  <dc:creator>Market Research Team</dc:creator>
  <cp:lastModifiedBy>Market Research Team</cp:lastModifiedBy>
  <cp:revision>1</cp:revision>
  <dcterms:created xsi:type="dcterms:W3CDTF">2025-11-12T03:17:14Z</dcterms:created>
  <dcterms:modified xsi:type="dcterms:W3CDTF">2025-11-12T03:17:14Z</dcterms:modified>
</cp:coreProperties>
</file>